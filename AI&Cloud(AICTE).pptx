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79" r:id="rId7"/>
    <p:sldId id="262" r:id="rId8"/>
    <p:sldId id="290" r:id="rId9"/>
    <p:sldId id="291" r:id="rId10"/>
    <p:sldId id="286" r:id="rId11"/>
    <p:sldId id="287" r:id="rId12"/>
    <p:sldId id="280" r:id="rId13"/>
    <p:sldId id="288" r:id="rId14"/>
    <p:sldId id="292"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376CA3-CC2E-41D3-970B-740B839DD84B}" v="2" dt="2026-06-30T06:31:58.48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ilaruvi2006@outlook.com" userId="43cc25180d675923" providerId="LiveId" clId="{DBD05FFF-F2DF-470E-A1FF-073B35ADAB85}"/>
    <pc:docChg chg="custSel modSld">
      <pc:chgData name="tamilaruvi2006@outlook.com" userId="43cc25180d675923" providerId="LiveId" clId="{DBD05FFF-F2DF-470E-A1FF-073B35ADAB85}" dt="2026-07-01T06:00:47.888" v="49" actId="1076"/>
      <pc:docMkLst>
        <pc:docMk/>
      </pc:docMkLst>
      <pc:sldChg chg="modSp mod">
        <pc:chgData name="tamilaruvi2006@outlook.com" userId="43cc25180d675923" providerId="LiveId" clId="{DBD05FFF-F2DF-470E-A1FF-073B35ADAB85}" dt="2026-07-01T06:00:47.888" v="49" actId="1076"/>
        <pc:sldMkLst>
          <pc:docMk/>
          <pc:sldMk cId="0" sldId="276"/>
        </pc:sldMkLst>
        <pc:picChg chg="mod">
          <ac:chgData name="tamilaruvi2006@outlook.com" userId="43cc25180d675923" providerId="LiveId" clId="{DBD05FFF-F2DF-470E-A1FF-073B35ADAB85}" dt="2026-07-01T06:00:47.888" v="49" actId="1076"/>
          <ac:picMkLst>
            <pc:docMk/>
            <pc:sldMk cId="0" sldId="276"/>
            <ac:picMk id="310" creationId="{00000000-0000-0000-0000-000000000000}"/>
          </ac:picMkLst>
        </pc:picChg>
      </pc:sldChg>
      <pc:sldChg chg="addSp delSp modSp mod">
        <pc:chgData name="tamilaruvi2006@outlook.com" userId="43cc25180d675923" providerId="LiveId" clId="{DBD05FFF-F2DF-470E-A1FF-073B35ADAB85}" dt="2026-07-01T06:00:18.982" v="47" actId="20577"/>
        <pc:sldMkLst>
          <pc:docMk/>
          <pc:sldMk cId="2605851928" sldId="287"/>
        </pc:sldMkLst>
        <pc:spChg chg="add mod">
          <ac:chgData name="tamilaruvi2006@outlook.com" userId="43cc25180d675923" providerId="LiveId" clId="{DBD05FFF-F2DF-470E-A1FF-073B35ADAB85}" dt="2026-06-30T06:33:04.471" v="29" actId="255"/>
          <ac:spMkLst>
            <pc:docMk/>
            <pc:sldMk cId="2605851928" sldId="287"/>
            <ac:spMk id="3" creationId="{C53DFBEC-9E81-6E5F-5190-B0427557CB6B}"/>
          </ac:spMkLst>
        </pc:spChg>
        <pc:spChg chg="mod">
          <ac:chgData name="tamilaruvi2006@outlook.com" userId="43cc25180d675923" providerId="LiveId" clId="{DBD05FFF-F2DF-470E-A1FF-073B35ADAB85}" dt="2026-06-29T08:23:39.363" v="1" actId="14100"/>
          <ac:spMkLst>
            <pc:docMk/>
            <pc:sldMk cId="2605851928" sldId="287"/>
            <ac:spMk id="278" creationId="{187EEB9C-2E84-113A-3CE6-1507BF5B039F}"/>
          </ac:spMkLst>
        </pc:spChg>
        <pc:spChg chg="mod">
          <ac:chgData name="tamilaruvi2006@outlook.com" userId="43cc25180d675923" providerId="LiveId" clId="{DBD05FFF-F2DF-470E-A1FF-073B35ADAB85}" dt="2026-07-01T06:00:18.982" v="47" actId="20577"/>
          <ac:spMkLst>
            <pc:docMk/>
            <pc:sldMk cId="2605851928" sldId="287"/>
            <ac:spMk id="279" creationId="{3711AF54-94A6-B837-31EF-9A8C4ECB9AF6}"/>
          </ac:spMkLst>
        </pc:spChg>
      </pc:sldChg>
      <pc:sldChg chg="addSp delSp modSp mod">
        <pc:chgData name="tamilaruvi2006@outlook.com" userId="43cc25180d675923" providerId="LiveId" clId="{DBD05FFF-F2DF-470E-A1FF-073B35ADAB85}" dt="2026-07-01T05:59:20.506" v="45" actId="1076"/>
        <pc:sldMkLst>
          <pc:docMk/>
          <pc:sldMk cId="2506610743" sldId="289"/>
        </pc:sldMkLst>
        <pc:picChg chg="add mod">
          <ac:chgData name="tamilaruvi2006@outlook.com" userId="43cc25180d675923" providerId="LiveId" clId="{DBD05FFF-F2DF-470E-A1FF-073B35ADAB85}" dt="2026-07-01T05:59:20.506" v="45" actId="1076"/>
          <ac:picMkLst>
            <pc:docMk/>
            <pc:sldMk cId="2506610743" sldId="289"/>
            <ac:picMk id="3" creationId="{91C1E093-6173-56BC-D9FC-9A78795CC9A2}"/>
          </ac:picMkLst>
        </pc:picChg>
        <pc:picChg chg="del">
          <ac:chgData name="tamilaruvi2006@outlook.com" userId="43cc25180d675923" providerId="LiveId" clId="{DBD05FFF-F2DF-470E-A1FF-073B35ADAB85}" dt="2026-07-01T05:58:50.913" v="40" actId="478"/>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9D317CDF-7DC0-CA5A-918A-D2622AB8A47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C9616B3B-ECE6-F081-F102-9239F316A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21B32430-2A94-BD8A-6648-48A98697D9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4060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tamilaruvi485-source/predictive-maintenance-using-ML.git"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Machine Learning with IBM Cloud”</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30754186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TAMILARUVI.S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tamilaruvisjcetaids@gmail.com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8838213528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b="1" dirty="0">
                <a:highlight>
                  <a:srgbClr val="FFFF00"/>
                </a:highlight>
              </a:rPr>
              <a:t>Manufacturing / Industrial AI</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b="1" dirty="0">
                <a:highlight>
                  <a:srgbClr val="FFFF00"/>
                </a:highlight>
              </a:rPr>
              <a:t>Predictive Maintenance using Machine Learning with IBM watsonx.ai Auto AI</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9541D4FA-E1B5-8D69-290C-A5B697944CA9}"/>
              </a:ext>
            </a:extLst>
          </p:cNvPr>
          <p:cNvPicPr>
            <a:picLocks noChangeAspect="1"/>
          </p:cNvPicPr>
          <p:nvPr/>
        </p:nvPicPr>
        <p:blipFill>
          <a:blip r:embed="rId3"/>
          <a:srcRect b="19753"/>
          <a:stretch>
            <a:fillRect/>
          </a:stretch>
        </p:blipFill>
        <p:spPr>
          <a:xfrm>
            <a:off x="3775587" y="3598606"/>
            <a:ext cx="1710813" cy="11688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08837" y="864646"/>
            <a:ext cx="11357834" cy="5539978"/>
          </a:xfrm>
          <a:prstGeom prst="rect">
            <a:avLst/>
          </a:prstGeom>
          <a:noFill/>
        </p:spPr>
        <p:txBody>
          <a:bodyPr wrap="square" lIns="91440" tIns="45720" rIns="91440" bIns="45720" rtlCol="0" anchor="t">
            <a:spAutoFit/>
          </a:bodyPr>
          <a:lstStyle/>
          <a:p>
            <a:r>
              <a:rPr lang="en-IN" sz="2000" b="1" dirty="0"/>
              <a:t> Problem Statement - Predictive Maintenance using Machine Learning</a:t>
            </a:r>
          </a:p>
          <a:p>
            <a:r>
              <a:rPr lang="en-IN" sz="2000" dirty="0"/>
              <a:t>Industrial machines play a vital role in modern manufacturing industries, where continuous operation is essential for maintaining productivity and reducing operational costs. However, unexpected machine failures can lead to production downtime, increased maintenance expenses, equipment damage, and significant financial losses. Traditional maintenance approaches, such as reactive maintenance and scheduled preventive maintenance, often fail to identify potential failures at the right time, resulting in inefficient maintenance planning.</a:t>
            </a:r>
          </a:p>
          <a:p>
            <a:r>
              <a:rPr lang="en-IN" sz="2000" dirty="0"/>
              <a:t>This project aims to develop a </a:t>
            </a:r>
            <a:r>
              <a:rPr lang="en-IN" sz="2000" b="1" dirty="0"/>
              <a:t>Machine Learning-based Predictive Maintenance System</a:t>
            </a:r>
            <a:r>
              <a:rPr lang="en-IN" sz="2000" dirty="0"/>
              <a:t> capable of predicting machine failures using operational parameters such as </a:t>
            </a:r>
            <a:r>
              <a:rPr lang="en-IN" sz="2000" b="1" dirty="0"/>
              <a:t>air temperature, process temperature, rotational speed, torque, tool wear, and product type</a:t>
            </a:r>
            <a:r>
              <a:rPr lang="en-IN" sz="2000" dirty="0"/>
              <a:t>. The solution is developed using </a:t>
            </a:r>
            <a:r>
              <a:rPr lang="en-IN" sz="2000" b="1" dirty="0"/>
              <a:t>IBM watsonx.ai Studio</a:t>
            </a:r>
            <a:r>
              <a:rPr lang="en-IN" sz="2000" dirty="0"/>
              <a:t> with </a:t>
            </a:r>
            <a:r>
              <a:rPr lang="en-IN" sz="2000" b="1" dirty="0"/>
              <a:t>Auto AI</a:t>
            </a:r>
            <a:r>
              <a:rPr lang="en-IN" sz="2000" dirty="0"/>
              <a:t>, which automatically performs data preprocessing, feature engineering, model selection, training, optimization, and evaluation to identify the most accurate prediction model.</a:t>
            </a:r>
          </a:p>
          <a:p>
            <a:r>
              <a:rPr lang="en-IN" sz="2000" dirty="0"/>
              <a:t>The developed system helps industries detect potential machine failures before they occur, enabling timely maintenance, reducing unexpected downtime, improving equipment reliability, optimizing maintenance schedules, lowering operational costs, increasing production efficiency, and supporting data-driven decision-making for smart manufacturing environments.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207342" y="191766"/>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23880" y="674734"/>
            <a:ext cx="11131336" cy="5632311"/>
          </a:xfrm>
          <a:prstGeom prst="rect">
            <a:avLst/>
          </a:prstGeom>
          <a:noFill/>
        </p:spPr>
        <p:txBody>
          <a:bodyPr wrap="square" lIns="91440" tIns="45720" rIns="91440" bIns="45720" rtlCol="0" anchor="t">
            <a:spAutoFit/>
          </a:bodyPr>
          <a:lstStyle/>
          <a:p>
            <a:endParaRPr lang="en-IN" sz="2000" dirty="0"/>
          </a:p>
          <a:p>
            <a:pPr marL="342900" indent="-342900">
              <a:buFont typeface="Arial" panose="020B0604020202020204" pitchFamily="34" charset="0"/>
              <a:buChar char="•"/>
            </a:pPr>
            <a:r>
              <a:rPr lang="en-IN" sz="2000" dirty="0"/>
              <a:t>Develop an intelligent </a:t>
            </a:r>
            <a:r>
              <a:rPr lang="en-IN" sz="2000" b="1" dirty="0"/>
              <a:t>Predictive Maintenance System</a:t>
            </a:r>
            <a:r>
              <a:rPr lang="en-IN" sz="2000" dirty="0"/>
              <a:t> using </a:t>
            </a:r>
            <a:r>
              <a:rPr lang="en-IN" sz="2000" b="1" dirty="0"/>
              <a:t>IBM watsonx.ai Studio</a:t>
            </a:r>
            <a:r>
              <a:rPr lang="en-IN" sz="2000" dirty="0"/>
              <a:t> and </a:t>
            </a:r>
            <a:r>
              <a:rPr lang="en-IN" sz="2000" b="1" dirty="0"/>
              <a:t>Auto AI</a:t>
            </a:r>
            <a:r>
              <a:rPr lang="en-IN" sz="2000" dirty="0"/>
              <a:t> to predict machine failures before they occur.</a:t>
            </a:r>
          </a:p>
          <a:p>
            <a:pPr marL="342900" indent="-342900">
              <a:buFont typeface="Arial" panose="020B0604020202020204" pitchFamily="34" charset="0"/>
              <a:buChar char="•"/>
            </a:pPr>
            <a:r>
              <a:rPr lang="en-IN" sz="2000" dirty="0"/>
              <a:t>Upload the </a:t>
            </a:r>
            <a:r>
              <a:rPr lang="en-IN" sz="2000" b="1" dirty="0"/>
              <a:t>Machine Predictive Maintenance Classification</a:t>
            </a:r>
            <a:r>
              <a:rPr lang="en-IN" sz="2000" dirty="0"/>
              <a:t> dataset into IBM watsonx.ai Studio and create an </a:t>
            </a:r>
            <a:r>
              <a:rPr lang="en-IN" sz="2000" b="1" dirty="0"/>
              <a:t>Auto AI Experiment</a:t>
            </a:r>
            <a:r>
              <a:rPr lang="en-IN" sz="2000" dirty="0"/>
              <a:t>.</a:t>
            </a:r>
          </a:p>
          <a:p>
            <a:pPr marL="342900" indent="-342900">
              <a:buFont typeface="Arial" panose="020B0604020202020204" pitchFamily="34" charset="0"/>
              <a:buChar char="•"/>
            </a:pPr>
            <a:r>
              <a:rPr lang="en-IN" sz="2000" dirty="0"/>
              <a:t>Perform </a:t>
            </a:r>
            <a:r>
              <a:rPr lang="en-IN" sz="2000" b="1" dirty="0"/>
              <a:t>data preprocessing</a:t>
            </a:r>
            <a:r>
              <a:rPr lang="en-IN" sz="2000" dirty="0"/>
              <a:t> and automatically train multiple Machine Learning models using IBM Auto AI.</a:t>
            </a:r>
          </a:p>
          <a:p>
            <a:pPr marL="342900" indent="-342900">
              <a:buFont typeface="Arial" panose="020B0604020202020204" pitchFamily="34" charset="0"/>
              <a:buChar char="•"/>
            </a:pPr>
            <a:r>
              <a:rPr lang="en-IN" sz="2000" dirty="0"/>
              <a:t>Compare the generated models and select the </a:t>
            </a:r>
            <a:r>
              <a:rPr lang="en-IN" sz="2000" b="1" dirty="0"/>
              <a:t>best-performing model</a:t>
            </a:r>
            <a:r>
              <a:rPr lang="en-IN" sz="2000" dirty="0"/>
              <a:t> based on prediction accuracy and evaluation metrics.</a:t>
            </a:r>
          </a:p>
          <a:p>
            <a:pPr marL="342900" indent="-342900">
              <a:buFont typeface="Arial" panose="020B0604020202020204" pitchFamily="34" charset="0"/>
              <a:buChar char="•"/>
            </a:pPr>
            <a:r>
              <a:rPr lang="en-IN" sz="2000" dirty="0"/>
              <a:t> Use the trained model to predict whether a machine is </a:t>
            </a:r>
            <a:r>
              <a:rPr lang="en-IN" sz="2000" b="1" dirty="0"/>
              <a:t>likely to fail</a:t>
            </a:r>
            <a:r>
              <a:rPr lang="en-IN" sz="2000" dirty="0"/>
              <a:t> or </a:t>
            </a:r>
            <a:r>
              <a:rPr lang="en-IN" sz="2000" b="1" dirty="0"/>
              <a:t>continue operating normally</a:t>
            </a:r>
            <a:r>
              <a:rPr lang="en-IN" sz="2000" dirty="0"/>
              <a:t>.</a:t>
            </a:r>
          </a:p>
          <a:p>
            <a:pPr marL="342900" indent="-342900">
              <a:buFont typeface="Arial" panose="020B0604020202020204" pitchFamily="34" charset="0"/>
              <a:buChar char="•"/>
            </a:pPr>
            <a:r>
              <a:rPr lang="en-IN" sz="2000" dirty="0"/>
              <a:t>Generate prediction results that help maintenance teams identify potential failures and schedule maintenance in advance.</a:t>
            </a:r>
          </a:p>
          <a:p>
            <a:pPr marL="342900" indent="-342900">
              <a:buFont typeface="Arial" panose="020B0604020202020204" pitchFamily="34" charset="0"/>
              <a:buChar char="•"/>
            </a:pPr>
            <a:r>
              <a:rPr lang="en-IN" sz="2000" dirty="0"/>
              <a:t>Reduce unexpected machine breakdowns, improve equipment reliability, minimize downtime, and lower maintenance costs.</a:t>
            </a:r>
          </a:p>
          <a:p>
            <a:pPr marL="342900" indent="-342900">
              <a:buFont typeface="Arial" panose="020B0604020202020204" pitchFamily="34" charset="0"/>
              <a:buChar char="•"/>
            </a:pPr>
            <a:r>
              <a:rPr lang="en-IN" sz="2000" dirty="0"/>
              <a:t>Support industries in making </a:t>
            </a:r>
            <a:r>
              <a:rPr lang="en-IN" sz="2000" b="1" dirty="0"/>
              <a:t>data-driven maintenance decisions</a:t>
            </a:r>
            <a:r>
              <a:rPr lang="en-IN" sz="2000" dirty="0"/>
              <a:t> and improve overall operational efficiency through AI.</a:t>
            </a:r>
          </a:p>
          <a:p>
            <a:endParaRPr lang="en-US"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255639" y="203047"/>
            <a:ext cx="6066504" cy="523220"/>
          </a:xfrm>
          <a:prstGeom prst="rect">
            <a:avLst/>
          </a:prstGeom>
          <a:noFill/>
        </p:spPr>
        <p:txBody>
          <a:bodyPr wrap="square" rtlCol="0">
            <a:spAutoFit/>
          </a:bodyPr>
          <a:lstStyle/>
          <a:p>
            <a:r>
              <a:rPr lang="en-US" sz="2800" b="1" dirty="0"/>
              <a:t>Proposed Solution </a:t>
            </a:r>
            <a:r>
              <a:rPr lang="en-US" sz="2400" b="1" dirty="0"/>
              <a:t>:</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33111" y="219161"/>
            <a:ext cx="7123176" cy="523220"/>
          </a:xfrm>
          <a:prstGeom prst="rect">
            <a:avLst/>
          </a:prstGeom>
          <a:noFill/>
        </p:spPr>
        <p:txBody>
          <a:bodyPr wrap="square" lIns="91440" tIns="45720" rIns="91440" bIns="45720" rtlCol="0" anchor="t">
            <a:spAutoFit/>
          </a:bodyPr>
          <a:lstStyle/>
          <a:p>
            <a:r>
              <a:rPr lang="en-US" sz="2800" b="1" dirty="0"/>
              <a:t>Technology Used :</a:t>
            </a:r>
            <a:endParaRPr lang="en-IN" sz="28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9375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2000" b="1" dirty="0"/>
              <a:t>IBM Cloud:</a:t>
            </a:r>
            <a:r>
              <a:rPr lang="en-IN" sz="2000" dirty="0"/>
              <a:t> Used as the cloud platform to create and manage the Machine Learning project.</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b="1" dirty="0"/>
              <a:t>IBM watsonx.ai Studio:</a:t>
            </a:r>
            <a:r>
              <a:rPr lang="en-IN" sz="2000" dirty="0"/>
              <a:t> Used to upload the dataset, build the Auto AI experiment, train and evaluate the Machine Learning model.</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b="1" dirty="0"/>
              <a:t>IBM Auto AI:</a:t>
            </a:r>
            <a:r>
              <a:rPr lang="en-IN" sz="2000" dirty="0"/>
              <a:t> Automatically performed data preprocessing, feature engineering, model selection, hyperparameter optimization, and generated the best predictive model.</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b="1" dirty="0"/>
              <a:t>Machine Learning Model Used:</a:t>
            </a:r>
            <a:r>
              <a:rPr lang="en-IN" sz="2000" dirty="0"/>
              <a:t> </a:t>
            </a:r>
            <a:r>
              <a:rPr lang="en-IN" sz="2000" b="1" dirty="0"/>
              <a:t>Auto AI Best Pipeline</a:t>
            </a:r>
            <a:r>
              <a:rPr lang="en-IN" sz="2000" dirty="0"/>
              <a:t> </a:t>
            </a:r>
            <a:r>
              <a:rPr lang="en-IN" sz="2000" i="1" dirty="0"/>
              <a:t>(Later, leaderboard-la exact model name — e.g., XG Boost, Snap Random Forest, etc.)</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b="1" dirty="0"/>
              <a:t>Accuracy Obtained:</a:t>
            </a:r>
            <a:r>
              <a:rPr lang="en-IN" sz="2000" dirty="0"/>
              <a:t> </a:t>
            </a:r>
            <a:r>
              <a:rPr lang="en-IN" sz="2000" b="1" dirty="0"/>
              <a:t>100%</a:t>
            </a:r>
          </a:p>
          <a:p>
            <a:pPr marL="285750" indent="-285750">
              <a:buFont typeface="Arial" panose="020B0604020202020204" pitchFamily="34" charset="0"/>
              <a:buChar char="•"/>
            </a:pPr>
            <a:endParaRPr lang="en-IN" sz="2000" dirty="0"/>
          </a:p>
          <a:p>
            <a:pPr marL="285750" indent="-285750">
              <a:buFont typeface="Arial" panose="020B0604020202020204" pitchFamily="34" charset="0"/>
              <a:buChar char="•"/>
            </a:pPr>
            <a:r>
              <a:rPr lang="en-IN" sz="2000" b="1" dirty="0"/>
              <a:t>Enhancements and Hyperparameter Tuning:</a:t>
            </a:r>
            <a:r>
              <a:rPr lang="en-IN" sz="2000" dirty="0"/>
              <a:t> Automatically performed by IBM </a:t>
            </a:r>
            <a:r>
              <a:rPr lang="en-IN" sz="2000" dirty="0" err="1"/>
              <a:t>AutoAI</a:t>
            </a:r>
            <a:r>
              <a:rPr lang="en-IN" sz="2000" dirty="0"/>
              <a:t> to improve model performance and prediction accuracy.</a:t>
            </a:r>
          </a:p>
          <a:p>
            <a:endParaRPr lang="en-US" sz="18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187070" y="73742"/>
            <a:ext cx="6259449" cy="698005"/>
          </a:xfrm>
          <a:prstGeom prst="rect">
            <a:avLst/>
          </a:prstGeom>
          <a:noFill/>
          <a:ln>
            <a:noFill/>
          </a:ln>
        </p:spPr>
        <p:txBody>
          <a:bodyPr spcFirstLastPara="1" wrap="square" lIns="0" tIns="0" rIns="0" bIns="0" anchor="t" anchorCtr="0">
            <a:noAutofit/>
          </a:bodyPr>
          <a:lstStyle/>
          <a:p>
            <a:pPr>
              <a:buClr>
                <a:srgbClr val="051D3A"/>
              </a:buClr>
              <a:buSzPts val="3500"/>
            </a:pPr>
            <a:r>
              <a:rPr lang="en-US" sz="2800" b="1" dirty="0">
                <a:sym typeface="Times New Roman"/>
              </a:rPr>
              <a:t>Training Screenshots :</a:t>
            </a:r>
            <a:endParaRPr sz="2800" b="1" dirty="0">
              <a:sym typeface="Times New Roman"/>
            </a:endParaRPr>
          </a:p>
        </p:txBody>
      </p:sp>
      <p:pic>
        <p:nvPicPr>
          <p:cNvPr id="4" name="Picture 3">
            <a:extLst>
              <a:ext uri="{FF2B5EF4-FFF2-40B4-BE49-F238E27FC236}">
                <a16:creationId xmlns:a16="http://schemas.microsoft.com/office/drawing/2014/main" id="{46CB25A1-4A40-C2B4-796A-01CFC84293C9}"/>
              </a:ext>
            </a:extLst>
          </p:cNvPr>
          <p:cNvPicPr>
            <a:picLocks noChangeAspect="1"/>
          </p:cNvPicPr>
          <p:nvPr/>
        </p:nvPicPr>
        <p:blipFill>
          <a:blip r:embed="rId3"/>
          <a:srcRect t="3556" b="5042"/>
          <a:stretch>
            <a:fillRect/>
          </a:stretch>
        </p:blipFill>
        <p:spPr>
          <a:xfrm>
            <a:off x="187070" y="511277"/>
            <a:ext cx="12004930" cy="627298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409771" y="136426"/>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rPr>
              <a:t>Best Model Screenshot </a:t>
            </a:r>
            <a:r>
              <a:rPr lang="en-US" sz="2400" b="1" dirty="0">
                <a:solidFill>
                  <a:schemeClr val="dk1"/>
                </a:solidFill>
                <a:latin typeface="Calibri"/>
                <a:ea typeface="Calibri"/>
                <a:cs typeface="Calibri"/>
              </a:rPr>
              <a:t>:</a:t>
            </a:r>
          </a:p>
        </p:txBody>
      </p:sp>
      <p:pic>
        <p:nvPicPr>
          <p:cNvPr id="6" name="Picture 5">
            <a:extLst>
              <a:ext uri="{FF2B5EF4-FFF2-40B4-BE49-F238E27FC236}">
                <a16:creationId xmlns:a16="http://schemas.microsoft.com/office/drawing/2014/main" id="{66F41823-5C3B-2E64-BD28-15B1B565BC36}"/>
              </a:ext>
            </a:extLst>
          </p:cNvPr>
          <p:cNvPicPr>
            <a:picLocks noChangeAspect="1"/>
          </p:cNvPicPr>
          <p:nvPr/>
        </p:nvPicPr>
        <p:blipFill>
          <a:blip r:embed="rId3"/>
          <a:srcRect b="6199"/>
          <a:stretch>
            <a:fillRect/>
          </a:stretch>
        </p:blipFill>
        <p:spPr>
          <a:xfrm>
            <a:off x="127820" y="592933"/>
            <a:ext cx="12192000" cy="61286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3E69E7BF-BEF2-458E-692A-A750B748D2BC}"/>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56959763-B5B5-22E5-733E-B3F05D391F6B}"/>
              </a:ext>
            </a:extLst>
          </p:cNvPr>
          <p:cNvSpPr/>
          <p:nvPr/>
        </p:nvSpPr>
        <p:spPr>
          <a:xfrm>
            <a:off x="255897" y="113733"/>
            <a:ext cx="5908929" cy="448508"/>
          </a:xfrm>
          <a:prstGeom prst="rect">
            <a:avLst/>
          </a:prstGeom>
          <a:noFill/>
          <a:ln>
            <a:noFill/>
          </a:ln>
        </p:spPr>
        <p:txBody>
          <a:bodyPr spcFirstLastPara="1" wrap="square" lIns="0" tIns="0" rIns="0" bIns="0" anchor="t" anchorCtr="0">
            <a:noAutofit/>
          </a:bodyPr>
          <a:lstStyle/>
          <a:p>
            <a:r>
              <a:rPr lang="en-US" sz="2800" b="1" dirty="0">
                <a:solidFill>
                  <a:schemeClr val="dk1"/>
                </a:solidFill>
                <a:latin typeface="Calibri"/>
                <a:ea typeface="Calibri"/>
                <a:cs typeface="Calibri"/>
              </a:rPr>
              <a:t>Testing Screenshot :</a:t>
            </a:r>
          </a:p>
        </p:txBody>
      </p:sp>
      <p:pic>
        <p:nvPicPr>
          <p:cNvPr id="6" name="Picture 5">
            <a:extLst>
              <a:ext uri="{FF2B5EF4-FFF2-40B4-BE49-F238E27FC236}">
                <a16:creationId xmlns:a16="http://schemas.microsoft.com/office/drawing/2014/main" id="{D7BF6270-05F1-E5CB-4BE7-4145C844DEDB}"/>
              </a:ext>
            </a:extLst>
          </p:cNvPr>
          <p:cNvPicPr>
            <a:picLocks noChangeAspect="1"/>
          </p:cNvPicPr>
          <p:nvPr/>
        </p:nvPicPr>
        <p:blipFill>
          <a:blip r:embed="rId3"/>
          <a:srcRect t="4870" b="5394"/>
          <a:stretch>
            <a:fillRect/>
          </a:stretch>
        </p:blipFill>
        <p:spPr>
          <a:xfrm>
            <a:off x="68826" y="562242"/>
            <a:ext cx="12192000" cy="6247738"/>
          </a:xfrm>
          <a:prstGeom prst="rect">
            <a:avLst/>
          </a:prstGeom>
        </p:spPr>
      </p:pic>
    </p:spTree>
    <p:extLst>
      <p:ext uri="{BB962C8B-B14F-4D97-AF65-F5344CB8AC3E}">
        <p14:creationId xmlns:p14="http://schemas.microsoft.com/office/powerpoint/2010/main" val="3866656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2DC2F13-C09F-1D50-6289-15F22A1D77FA}"/>
              </a:ext>
            </a:extLst>
          </p:cNvPr>
          <p:cNvSpPr txBox="1"/>
          <p:nvPr/>
        </p:nvSpPr>
        <p:spPr>
          <a:xfrm>
            <a:off x="127819" y="78658"/>
            <a:ext cx="3755923"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Calibri"/>
              </a:rPr>
              <a:t>Testing Screenshot :</a:t>
            </a:r>
            <a:endParaRPr lang="en-US" sz="2800" dirty="0"/>
          </a:p>
          <a:p>
            <a:pPr algn="ctr"/>
            <a:endParaRPr lang="en-US" dirty="0"/>
          </a:p>
        </p:txBody>
      </p:sp>
      <p:pic>
        <p:nvPicPr>
          <p:cNvPr id="3" name="Picture 2">
            <a:extLst>
              <a:ext uri="{FF2B5EF4-FFF2-40B4-BE49-F238E27FC236}">
                <a16:creationId xmlns:a16="http://schemas.microsoft.com/office/drawing/2014/main" id="{5B45FC90-017A-56C2-6B18-DEB2A93B9F16}"/>
              </a:ext>
            </a:extLst>
          </p:cNvPr>
          <p:cNvPicPr>
            <a:picLocks noChangeAspect="1"/>
          </p:cNvPicPr>
          <p:nvPr/>
        </p:nvPicPr>
        <p:blipFill>
          <a:blip r:embed="rId2"/>
          <a:srcRect b="260"/>
          <a:stretch>
            <a:fillRect/>
          </a:stretch>
        </p:blipFill>
        <p:spPr>
          <a:xfrm>
            <a:off x="0" y="609599"/>
            <a:ext cx="12192000" cy="6066503"/>
          </a:xfrm>
          <a:prstGeom prst="rect">
            <a:avLst/>
          </a:prstGeom>
        </p:spPr>
      </p:pic>
    </p:spTree>
    <p:extLst>
      <p:ext uri="{BB962C8B-B14F-4D97-AF65-F5344CB8AC3E}">
        <p14:creationId xmlns:p14="http://schemas.microsoft.com/office/powerpoint/2010/main" val="3021295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432619" y="265471"/>
            <a:ext cx="7467797" cy="523220"/>
          </a:xfrm>
          <a:prstGeom prst="rect">
            <a:avLst/>
          </a:prstGeom>
          <a:noFill/>
        </p:spPr>
        <p:txBody>
          <a:bodyPr wrap="square" rtlCol="0">
            <a:spAutoFit/>
          </a:bodyPr>
          <a:lstStyle/>
          <a:p>
            <a:r>
              <a:rPr lang="en-US" sz="2800" b="1" dirty="0"/>
              <a:t>Novelty and Uniqueness :</a:t>
            </a:r>
            <a:endParaRPr lang="en-IN" sz="28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88258" y="934066"/>
            <a:ext cx="10858610" cy="560153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IN" sz="1800" dirty="0"/>
              <a:t> </a:t>
            </a:r>
            <a:r>
              <a:rPr lang="en-IN" sz="2000" dirty="0"/>
              <a:t>Uses </a:t>
            </a:r>
            <a:r>
              <a:rPr lang="en-IN" sz="2000" b="1" dirty="0"/>
              <a:t>IBM watsonx.ai Auto AI</a:t>
            </a:r>
            <a:r>
              <a:rPr lang="en-IN" sz="2000" dirty="0"/>
              <a:t> to automatically build, train, and optimize Machine Learning models with minimal coding.</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Predicts </a:t>
            </a:r>
            <a:r>
              <a:rPr lang="en-IN" sz="2000" b="1" dirty="0"/>
              <a:t>machine failures before they occur</a:t>
            </a:r>
            <a:r>
              <a:rPr lang="en-IN" sz="2000" dirty="0"/>
              <a:t>, enabling proactive maintenance instead of reactive maintenance.</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Analyses multiple machine parameters such as </a:t>
            </a:r>
            <a:r>
              <a:rPr lang="en-IN" sz="2000" b="1" dirty="0"/>
              <a:t>temperature, rotational speed, torque, tool wear, and product type</a:t>
            </a:r>
            <a:r>
              <a:rPr lang="en-IN" sz="2000" dirty="0"/>
              <a:t> for accurate predictions.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Helps industries reduce </a:t>
            </a:r>
            <a:r>
              <a:rPr lang="en-IN" sz="2000" b="1" dirty="0"/>
              <a:t>unexpected downtime</a:t>
            </a:r>
            <a:r>
              <a:rPr lang="en-IN" sz="2000" dirty="0"/>
              <a:t>, improve equipment reliability, and optimize maintenance schedules.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Supports </a:t>
            </a:r>
            <a:r>
              <a:rPr lang="en-IN" sz="2000" b="1" dirty="0"/>
              <a:t>data-driven decision-making</a:t>
            </a:r>
            <a:r>
              <a:rPr lang="en-IN" sz="2000" dirty="0"/>
              <a:t> by providing accurate failure predictions based on machine operational data.</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 Provides a </a:t>
            </a:r>
            <a:r>
              <a:rPr lang="en-IN" sz="2000" b="1" dirty="0"/>
              <a:t>cost-effective and scalable solution</a:t>
            </a:r>
            <a:r>
              <a:rPr lang="en-IN" sz="2000" dirty="0"/>
              <a:t> that can be adopted by manufacturing industries to improve productivity and operational efficiency.</a:t>
            </a:r>
          </a:p>
          <a:p>
            <a:endParaRPr lang="en-IN" sz="1800" b="1"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389106" y="243191"/>
            <a:ext cx="7274114" cy="881555"/>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540774" y="2330244"/>
            <a:ext cx="9823704" cy="3687097"/>
          </a:xfrm>
          <a:prstGeom prst="rect">
            <a:avLst/>
          </a:prstGeom>
          <a:noFill/>
          <a:ln>
            <a:noFill/>
          </a:ln>
        </p:spPr>
        <p:txBody>
          <a:bodyPr spcFirstLastPara="1" wrap="square" lIns="0" tIns="0" rIns="0" bIns="0" anchor="t" anchorCtr="0">
            <a:noAutofit/>
          </a:bodyPr>
          <a:lstStyle/>
          <a:p>
            <a:r>
              <a:rPr lang="en-IN" sz="2400" b="1" dirty="0"/>
              <a:t>Repository Contents:</a:t>
            </a:r>
          </a:p>
          <a:p>
            <a:endParaRPr lang="en-IN" sz="2400" dirty="0"/>
          </a:p>
          <a:p>
            <a:pPr marL="342900" indent="-342900">
              <a:buFont typeface="Arial" panose="020B0604020202020204" pitchFamily="34" charset="0"/>
              <a:buChar char="•"/>
            </a:pPr>
            <a:r>
              <a:rPr lang="en-IN" sz="2000" dirty="0"/>
              <a:t>README.md </a:t>
            </a:r>
          </a:p>
          <a:p>
            <a:pPr marL="342900" indent="-342900">
              <a:buFont typeface="Arial" panose="020B0604020202020204" pitchFamily="34" charset="0"/>
              <a:buChar char="•"/>
            </a:pPr>
            <a:r>
              <a:rPr lang="en-IN" sz="2000" dirty="0"/>
              <a:t>Machine Predictive Maintenance Classification Dataset (.csv) </a:t>
            </a:r>
          </a:p>
          <a:p>
            <a:pPr marL="342900" indent="-342900">
              <a:buFont typeface="Arial" panose="020B0604020202020204" pitchFamily="34" charset="0"/>
              <a:buChar char="•"/>
            </a:pPr>
            <a:r>
              <a:rPr lang="en-IN" sz="2000" dirty="0"/>
              <a:t>Project Presentation (.pptx) </a:t>
            </a:r>
          </a:p>
          <a:p>
            <a:pPr marL="342900" indent="-342900">
              <a:buFont typeface="Arial" panose="020B0604020202020204" pitchFamily="34" charset="0"/>
              <a:buChar char="•"/>
            </a:pPr>
            <a:r>
              <a:rPr lang="en-IN" sz="2000" dirty="0"/>
              <a:t>Python Notebook (.</a:t>
            </a:r>
            <a:r>
              <a:rPr lang="en-IN" sz="2000" dirty="0" err="1"/>
              <a:t>ipynb</a:t>
            </a:r>
            <a:r>
              <a:rPr lang="en-IN" sz="2000" dirty="0"/>
              <a:t>) </a:t>
            </a:r>
          </a:p>
          <a:p>
            <a:pPr marL="342900" indent="-342900">
              <a:buFont typeface="Arial" panose="020B0604020202020204" pitchFamily="34" charset="0"/>
              <a:buChar char="•"/>
            </a:pPr>
            <a:r>
              <a:rPr lang="en-IN" sz="2000" dirty="0"/>
              <a:t>Problem Statement PDF </a:t>
            </a:r>
          </a:p>
          <a:p>
            <a:pPr marL="342900" indent="-342900">
              <a:buFont typeface="Arial" panose="020B0604020202020204" pitchFamily="34" charset="0"/>
              <a:buChar char="•"/>
            </a:pPr>
            <a:r>
              <a:rPr lang="en-IN" sz="2000" dirty="0"/>
              <a:t>Project Output Screenshots </a:t>
            </a:r>
          </a:p>
          <a:p>
            <a:r>
              <a:rPr lang="en-IN" sz="2000" b="1" dirty="0"/>
              <a:t>Purpose:</a:t>
            </a:r>
            <a:br>
              <a:rPr lang="en-IN" sz="2000" dirty="0"/>
            </a:br>
            <a:r>
              <a:rPr lang="en-IN" sz="2000" dirty="0"/>
              <a:t>The GitHub repository contains all project resources, implementation files, documentation, and outputs for easy access and future reference.</a:t>
            </a: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C53DFBEC-9E81-6E5F-5190-B0427557CB6B}"/>
              </a:ext>
            </a:extLst>
          </p:cNvPr>
          <p:cNvSpPr txBox="1"/>
          <p:nvPr/>
        </p:nvSpPr>
        <p:spPr>
          <a:xfrm>
            <a:off x="678426" y="1173268"/>
            <a:ext cx="8091948" cy="707886"/>
          </a:xfrm>
          <a:prstGeom prst="rect">
            <a:avLst/>
          </a:prstGeom>
          <a:noFill/>
        </p:spPr>
        <p:txBody>
          <a:bodyPr wrap="square">
            <a:spAutoFit/>
          </a:bodyPr>
          <a:lstStyle/>
          <a:p>
            <a:r>
              <a:rPr lang="en-IN" sz="2000" dirty="0">
                <a:hlinkClick r:id="rId3"/>
              </a:rPr>
              <a:t>https://github.com/tamilaruvi485-source/predictive-maintenance-using-ML.git</a:t>
            </a:r>
            <a:endParaRPr lang="en-IN" sz="2000" dirty="0"/>
          </a:p>
        </p:txBody>
      </p:sp>
    </p:spTree>
    <p:extLst>
      <p:ext uri="{BB962C8B-B14F-4D97-AF65-F5344CB8AC3E}">
        <p14:creationId xmlns:p14="http://schemas.microsoft.com/office/powerpoint/2010/main" val="2605851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589935" y="250723"/>
            <a:ext cx="7073285" cy="874023"/>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Future Scope : </a:t>
            </a:r>
            <a:endParaRPr sz="28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992582" y="1124746"/>
            <a:ext cx="9214580" cy="5385562"/>
          </a:xfrm>
          <a:prstGeom prst="rect">
            <a:avLst/>
          </a:prstGeom>
          <a:noFill/>
          <a:ln>
            <a:noFill/>
          </a:ln>
        </p:spPr>
        <p:txBody>
          <a:bodyPr spcFirstLastPara="1" wrap="square" lIns="0" tIns="0" rIns="0" bIns="0" anchor="t" anchorCtr="0">
            <a:noAutofit/>
          </a:bodyPr>
          <a:lstStyle/>
          <a:p>
            <a:pPr marL="342900" indent="-342900">
              <a:buFont typeface="Arial" panose="020B0604020202020204" pitchFamily="34" charset="0"/>
              <a:buChar char="•"/>
            </a:pPr>
            <a:r>
              <a:rPr lang="en-IN" sz="2000" dirty="0"/>
              <a:t>Integrate the system with </a:t>
            </a:r>
            <a:r>
              <a:rPr lang="en-IN" sz="2000" b="1" dirty="0"/>
              <a:t>IoT sensors</a:t>
            </a:r>
            <a:r>
              <a:rPr lang="en-IN" sz="2000" dirty="0"/>
              <a:t> for real-time machine health monitoring and failure detection.</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Improve prediction accuracy by training the model with larger and more diverse industrial datasets.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Deploy the model on </a:t>
            </a:r>
            <a:r>
              <a:rPr lang="en-IN" sz="2000" b="1" dirty="0"/>
              <a:t>IBM Cloud</a:t>
            </a:r>
            <a:r>
              <a:rPr lang="en-IN" sz="2000" dirty="0"/>
              <a:t> to provide real-time maintenance alerts and predictions.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Extend the solution to support different types of industrial machines and manufacturing environments.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Develop an interactive dashboard to monitor machine performance, maintenance schedules, and prediction results.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Enable predictive maintenance across multiple industries to reduce downtime, improve productivity, and optimize maintenance planning.</a:t>
            </a:r>
          </a:p>
          <a:p>
            <a:pPr marL="0" marR="0" lvl="0" indent="0" algn="l">
              <a:lnSpc>
                <a:spcPct val="150000"/>
              </a:lnSpc>
              <a:spcBef>
                <a:spcPts val="0"/>
              </a:spcBef>
              <a:spcAft>
                <a:spcPts val="0"/>
              </a:spcAft>
              <a:buSzPts val="1850"/>
              <a:buFont typeface="Times New Roman"/>
              <a:buNone/>
            </a:pPr>
            <a:endParaRPr lang="en-US" sz="1850" b="1" dirty="0">
              <a:solidFill>
                <a:srgbClr val="2B3541"/>
              </a:solidFill>
              <a:latin typeface="Times New Roman"/>
              <a:cs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Certificates Earned:</a:t>
            </a:r>
          </a:p>
          <a:p>
            <a:pPr algn="ctr"/>
            <a:endParaRPr lang="en-US" dirty="0"/>
          </a:p>
        </p:txBody>
      </p:sp>
      <p:pic>
        <p:nvPicPr>
          <p:cNvPr id="10" name="Picture 9">
            <a:extLst>
              <a:ext uri="{FF2B5EF4-FFF2-40B4-BE49-F238E27FC236}">
                <a16:creationId xmlns:a16="http://schemas.microsoft.com/office/drawing/2014/main" id="{7129AB6E-4E32-A723-A65E-51D7CB353AF5}"/>
              </a:ext>
            </a:extLst>
          </p:cNvPr>
          <p:cNvPicPr>
            <a:picLocks noChangeAspect="1"/>
          </p:cNvPicPr>
          <p:nvPr/>
        </p:nvPicPr>
        <p:blipFill>
          <a:blip r:embed="rId2"/>
          <a:stretch>
            <a:fillRect/>
          </a:stretch>
        </p:blipFill>
        <p:spPr>
          <a:xfrm>
            <a:off x="1147864" y="759796"/>
            <a:ext cx="9058021" cy="577153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043F01-D5F6-4F24-9427-B2FBA6A03924}"/>
              </a:ext>
            </a:extLst>
          </p:cNvPr>
          <p:cNvPicPr>
            <a:picLocks noChangeAspect="1"/>
          </p:cNvPicPr>
          <p:nvPr/>
        </p:nvPicPr>
        <p:blipFill>
          <a:blip r:embed="rId2"/>
          <a:stretch>
            <a:fillRect/>
          </a:stretch>
        </p:blipFill>
        <p:spPr>
          <a:xfrm>
            <a:off x="1113849" y="807397"/>
            <a:ext cx="9166634" cy="5768501"/>
          </a:xfrm>
          <a:prstGeom prst="rect">
            <a:avLst/>
          </a:prstGeom>
        </p:spPr>
      </p:pic>
      <p:sp>
        <p:nvSpPr>
          <p:cNvPr id="5" name="TextBox 4">
            <a:extLst>
              <a:ext uri="{FF2B5EF4-FFF2-40B4-BE49-F238E27FC236}">
                <a16:creationId xmlns:a16="http://schemas.microsoft.com/office/drawing/2014/main" id="{65A2987A-CEDA-D768-8A80-8ED5F86F1987}"/>
              </a:ext>
            </a:extLst>
          </p:cNvPr>
          <p:cNvSpPr txBox="1"/>
          <p:nvPr/>
        </p:nvSpPr>
        <p:spPr>
          <a:xfrm>
            <a:off x="321014" y="194554"/>
            <a:ext cx="8820554" cy="523220"/>
          </a:xfrm>
          <a:prstGeom prst="rect">
            <a:avLst/>
          </a:prstGeom>
          <a:noFill/>
        </p:spPr>
        <p:txBody>
          <a:bodyPr wrap="square">
            <a:spAutoFit/>
          </a:bodyPr>
          <a:lstStyle/>
          <a:p>
            <a:r>
              <a:rPr lang="en-US" sz="2800" b="1" dirty="0"/>
              <a:t>Certificates Earned:</a:t>
            </a:r>
          </a:p>
        </p:txBody>
      </p:sp>
    </p:spTree>
    <p:extLst>
      <p:ext uri="{BB962C8B-B14F-4D97-AF65-F5344CB8AC3E}">
        <p14:creationId xmlns:p14="http://schemas.microsoft.com/office/powerpoint/2010/main" val="894227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dirty="0">
                <a:solidFill>
                  <a:srgbClr val="000000"/>
                </a:solidFill>
                <a:latin typeface="Arial"/>
              </a:rPr>
              <a:t>Certificates Earned:</a:t>
            </a:r>
            <a:r>
              <a:rPr sz="2800" b="0" i="0" dirty="0">
                <a:solidFill>
                  <a:srgbClr val="000000"/>
                </a:solidFill>
                <a:latin typeface="Arial"/>
                <a:ea typeface="Arial"/>
                <a:cs typeface="Arial"/>
              </a:rPr>
              <a:t>​</a:t>
            </a:r>
            <a:endParaRPr lang="en-US" sz="2800" dirty="0"/>
          </a:p>
          <a:p>
            <a:pPr algn="ctr"/>
            <a:endParaRPr lang="en-US" dirty="0"/>
          </a:p>
        </p:txBody>
      </p:sp>
      <p:pic>
        <p:nvPicPr>
          <p:cNvPr id="3" name="Picture 2">
            <a:extLst>
              <a:ext uri="{FF2B5EF4-FFF2-40B4-BE49-F238E27FC236}">
                <a16:creationId xmlns:a16="http://schemas.microsoft.com/office/drawing/2014/main" id="{91C1E093-6173-56BC-D9FC-9A78795CC9A2}"/>
              </a:ext>
            </a:extLst>
          </p:cNvPr>
          <p:cNvPicPr>
            <a:picLocks noChangeAspect="1"/>
          </p:cNvPicPr>
          <p:nvPr/>
        </p:nvPicPr>
        <p:blipFill>
          <a:blip r:embed="rId2"/>
          <a:stretch>
            <a:fillRect/>
          </a:stretch>
        </p:blipFill>
        <p:spPr>
          <a:xfrm>
            <a:off x="1140542" y="766259"/>
            <a:ext cx="9491202" cy="5865350"/>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234406" y="1956001"/>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TotalTime>
  <Words>884</Words>
  <Application>Microsoft Office PowerPoint</Application>
  <PresentationFormat>Widescreen</PresentationFormat>
  <Paragraphs>88</Paragraphs>
  <Slides>16</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tamilaruvi2006@outlook.com</cp:lastModifiedBy>
  <cp:revision>5</cp:revision>
  <dcterms:created xsi:type="dcterms:W3CDTF">2025-07-08T05:06:56Z</dcterms:created>
  <dcterms:modified xsi:type="dcterms:W3CDTF">2026-07-01T06:00:55Z</dcterms:modified>
</cp:coreProperties>
</file>